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75" r:id="rId2"/>
    <p:sldId id="257" r:id="rId3"/>
    <p:sldId id="265" r:id="rId4"/>
    <p:sldId id="261" r:id="rId5"/>
    <p:sldId id="266" r:id="rId6"/>
    <p:sldId id="270" r:id="rId7"/>
    <p:sldId id="276" r:id="rId8"/>
    <p:sldId id="267" r:id="rId9"/>
    <p:sldId id="271" r:id="rId10"/>
    <p:sldId id="272" r:id="rId11"/>
    <p:sldId id="273" r:id="rId12"/>
    <p:sldId id="27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4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6" r:id="rId7"/>
    <p:sldLayoutId id="2147483679" r:id="rId8"/>
    <p:sldLayoutId id="2147483680" r:id="rId9"/>
    <p:sldLayoutId id="2147483681" r:id="rId10"/>
    <p:sldLayoutId id="2147483682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563378-38F8-4CB3-AF99-2C56FCF5540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magnetic field values measured at the sensor array (8×8 Hall sensors), the goal is to estimate the position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ar-AE" sz="2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ar-AE" sz="2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orientation (unit vector </a:t>
                </a:r>
                <a14:m>
                  <m:oMath xmlns:m="http://schemas.openxmlformats.org/officeDocument/2006/math">
                    <m:r>
                      <a:rPr lang="en-US" sz="2600" b="1">
                        <a:latin typeface="Cambria Math" panose="02040503050406030204" pitchFamily="18" charset="0"/>
                      </a:rPr>
                      <m:t>𝐇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the magnet and minimize the error between measured and computed values.</a:t>
                </a: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64-dim vector of Hall sensors readings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 Capsule position and pose: (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x,y,z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l-G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563378-38F8-4CB3-AF99-2C56FCF55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25" t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C8196C5E-7B93-4E81-B617-CD97C06D6032}"/>
                  </a:ext>
                </a:extLst>
              </p:cNvPr>
              <p:cNvSpPr>
                <a:spLocks noGrp="1"/>
              </p:cNvSpPr>
              <p:nvPr>
                <p:ph type="chart" sz="quarter" idx="4294967295"/>
              </p:nvPr>
            </p:nvSpPr>
            <p:spPr>
              <a:xfrm>
                <a:off x="247651" y="1406769"/>
                <a:ext cx="8677132" cy="4655894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Target: Minimize the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  <m:r>
                                <a:rPr lang="en-US" sz="26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𝑚𝑒𝑎𝑠𝑢𝑟𝑒𝑑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𝐵𝑐</m:t>
                              </m:r>
                              <m:r>
                                <a:rPr lang="en-US" sz="2600" i="1" baseline="-25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𝑎𝑙𝑐𝑢𝑙𝑎𝑡𝑒𝑑</m:t>
                              </m:r>
                            </m:e>
                          </m:d>
                          <m:r>
                            <a:rPr lang="en-US" sz="2600" i="1" baseline="30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nary>
                    </m:oMath>
                  </m:oMathPara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Difficulties: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Strongly nonlinear function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Non-convex cost surface     multiple local minima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Background geomagnetic and environmental noise (BGN)</a:t>
                </a:r>
              </a:p>
              <a:p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Real-time inference</a:t>
                </a: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hart Placeholder 2">
                <a:extLst>
                  <a:ext uri="{FF2B5EF4-FFF2-40B4-BE49-F238E27FC236}">
                    <a16:creationId xmlns:a16="http://schemas.microsoft.com/office/drawing/2014/main" id="{C8196C5E-7B93-4E81-B617-CD97C06D6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hart" sz="quarter" idx="4294967295"/>
              </p:nvPr>
            </p:nvSpPr>
            <p:spPr>
              <a:xfrm>
                <a:off x="247651" y="1406769"/>
                <a:ext cx="8677132" cy="4655894"/>
              </a:xfrm>
              <a:prstGeom prst="rect">
                <a:avLst/>
              </a:prstGeom>
              <a:blipFill>
                <a:blip r:embed="rId2"/>
                <a:stretch>
                  <a:fillRect l="-1265" t="-1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815EDC-B3E4-324E-0FCB-938E99AFCEC3}"/>
              </a:ext>
            </a:extLst>
          </p:cNvPr>
          <p:cNvCxnSpPr/>
          <p:nvPr/>
        </p:nvCxnSpPr>
        <p:spPr>
          <a:xfrm>
            <a:off x="3912781" y="4178596"/>
            <a:ext cx="2977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Convolutional Network (FCN)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FCN for 8x8 sensor hall: Convolutions preserve local spatial structure.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sharing reduces learnable weights vs. dense layers.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interference &amp; regularization.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7" y="1423289"/>
            <a:ext cx="838009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Attention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Attention helps the network focus on informative sensor locations in the 8×8 magnetic field map.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a weighting mask highlighting important spatial regions, enabling the network to suppress noisy or low-information sensors.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6B586-A956-D7AB-DC1C-3298532BD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C1926B-76FB-142F-E5FF-C70D41AC8D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8828" y="1285065"/>
                <a:ext cx="8380095" cy="514883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Feature map from backbone FCN: F ∈ R</a:t>
                </a:r>
                <a:r>
                  <a:rPr lang="en-US" sz="2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C×8×8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Create a 2D map: </a:t>
                </a:r>
              </a:p>
              <a:p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AveragePooling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6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cij</m:t>
                        </m:r>
                      </m:e>
                    </m:nary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Maxpooling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max​(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cij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​)</a:t>
                </a:r>
              </a:p>
              <a:p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[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Fmax]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 R</a:t>
                </a:r>
                <a:r>
                  <a:rPr lang="en-US" sz="2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2×8×8</a:t>
                </a:r>
                <a:endParaRPr lang="en-US" sz="2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Convolution 7x7</a:t>
                </a:r>
              </a:p>
              <a:p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</a:t>
                </a:r>
                <a:r>
                  <a:rPr lang="el-G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σ(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Conv7×7​(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​)) , </a:t>
                </a:r>
                <a:r>
                  <a:rPr lang="el-GR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=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sigmoid.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sz="26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6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6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60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ar-AE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Attention 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F′=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​⊙F , </a:t>
                </a:r>
                <a:r>
                  <a:rPr lang="en-US" sz="2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plays as a “crucial region” heatmap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C1926B-76FB-142F-E5FF-C70D41AC8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8828" y="1285065"/>
                <a:ext cx="8380095" cy="5148837"/>
              </a:xfrm>
              <a:blipFill>
                <a:blip r:embed="rId3"/>
                <a:stretch>
                  <a:fillRect l="-1310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E87D630F-33B7-30B8-1B4C-4F2A8BA4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to Convolution Block Attention Module (CBAM):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3174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94D1-B0B9-97CB-A9B2-4F2D31319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</TotalTime>
  <Words>313</Words>
  <Application>Microsoft Office PowerPoint</Application>
  <PresentationFormat>On-screen Show (4:3)</PresentationFormat>
  <Paragraphs>55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Lato</vt:lpstr>
      <vt:lpstr>Times New Roman</vt:lpstr>
      <vt:lpstr>Office Theme</vt:lpstr>
      <vt:lpstr>PowerPoint Presentation</vt:lpstr>
      <vt:lpstr>PowerPoint Presentation</vt:lpstr>
      <vt:lpstr>Problem</vt:lpstr>
      <vt:lpstr>Optimization Problem</vt:lpstr>
      <vt:lpstr>Proposed approach</vt:lpstr>
      <vt:lpstr>Proposed Approach</vt:lpstr>
      <vt:lpstr>Introduce to Convolution Block Attention Module (CBAM):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Tuan Anh 20231913</cp:lastModifiedBy>
  <cp:revision>15</cp:revision>
  <dcterms:created xsi:type="dcterms:W3CDTF">2021-05-28T04:32:29Z</dcterms:created>
  <dcterms:modified xsi:type="dcterms:W3CDTF">2025-12-11T09:20:31Z</dcterms:modified>
</cp:coreProperties>
</file>